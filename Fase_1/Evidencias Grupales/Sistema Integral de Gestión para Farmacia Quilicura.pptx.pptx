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arlow Condensed" charset="1" panose="00000506000000000000"/>
      <p:regular r:id="rId13"/>
    </p:embeddedFont>
    <p:embeddedFont>
      <p:font typeface="Bebas Neue" charset="1" panose="00000500000000000000"/>
      <p:regular r:id="rId14"/>
    </p:embeddedFont>
    <p:embeddedFont>
      <p:font typeface="Barlow Condensed Bold" charset="1" panose="00000806000000000000"/>
      <p:regular r:id="rId15"/>
    </p:embeddedFont>
    <p:embeddedFont>
      <p:font typeface="Open Sans Bold" charset="1" panose="020B0806030504020204"/>
      <p:regular r:id="rId16"/>
    </p:embeddedFont>
    <p:embeddedFont>
      <p:font typeface="Open Sans" charset="1" panose="020B0606030504020204"/>
      <p:regular r:id="rId17"/>
    </p:embeddedFont>
    <p:embeddedFont>
      <p:font typeface="HK Grotesk Bold" charset="1" panose="00000800000000000000"/>
      <p:regular r:id="rId18"/>
    </p:embeddedFont>
    <p:embeddedFont>
      <p:font typeface="HK Grotesk Medium" charset="1" panose="00000600000000000000"/>
      <p:regular r:id="rId19"/>
    </p:embeddedFont>
    <p:embeddedFont>
      <p:font typeface="Roboto Condensed" charset="1" panose="02000000000000000000"/>
      <p:regular r:id="rId20"/>
    </p:embeddedFont>
    <p:embeddedFont>
      <p:font typeface="Roboto Condensed Bold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media/image3.png" Type="http://schemas.openxmlformats.org/officeDocument/2006/relationships/image"/><Relationship Id="rId20" Target="../media/image21.png" Type="http://schemas.openxmlformats.org/officeDocument/2006/relationships/image"/><Relationship Id="rId21" Target="../media/image22.png" Type="http://schemas.openxmlformats.org/officeDocument/2006/relationships/image"/><Relationship Id="rId22" Target="../media/image2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1000" y="381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81000" y="381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907000" y="381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145000" y="381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81000" y="9144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" y="9906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7907000" y="9144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7145000" y="9906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905000" y="4000500"/>
            <a:ext cx="14478000" cy="0"/>
          </a:xfrm>
          <a:prstGeom prst="line">
            <a:avLst/>
          </a:prstGeom>
          <a:ln cap="flat" w="9525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382000" y="4953000"/>
            <a:ext cx="1524000" cy="1524000"/>
          </a:xfrm>
          <a:custGeom>
            <a:avLst/>
            <a:gdLst/>
            <a:ahLst/>
            <a:cxnLst/>
            <a:rect r="r" b="b" t="t" l="l"/>
            <a:pathLst>
              <a:path h="1524000" w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286500" y="7810500"/>
            <a:ext cx="5715000" cy="28575"/>
            <a:chOff x="0" y="0"/>
            <a:chExt cx="7620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334000" y="147139"/>
            <a:ext cx="7138522" cy="1757861"/>
          </a:xfrm>
          <a:custGeom>
            <a:avLst/>
            <a:gdLst/>
            <a:ahLst/>
            <a:cxnLst/>
            <a:rect r="r" b="b" t="t" l="l"/>
            <a:pathLst>
              <a:path h="1757861" w="7138522">
                <a:moveTo>
                  <a:pt x="0" y="0"/>
                </a:moveTo>
                <a:lnTo>
                  <a:pt x="7138522" y="0"/>
                </a:lnTo>
                <a:lnTo>
                  <a:pt x="7138522" y="1757861"/>
                </a:lnTo>
                <a:lnTo>
                  <a:pt x="0" y="1757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334000" y="1895475"/>
            <a:ext cx="76200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E5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PROYECTO APT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76500" y="2543175"/>
            <a:ext cx="13335000" cy="202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SISTEMA INTEGRAL DE GESTIÓN</a:t>
            </a:r>
          </a:p>
          <a:p>
            <a:pPr algn="ctr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PARA FARMACIA QUILICURA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1500" y="4229100"/>
            <a:ext cx="95250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Ingeniería en Informática  |  Sede Melipilla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1500" y="7000875"/>
            <a:ext cx="952500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Andrés Alvarado  ·  Jesús Lozano  ·  Martín Rodríguez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1000" y="381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81000" y="381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7145000" y="381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7907000" y="381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81000" y="9906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81000" y="9144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7145000" y="9906000"/>
            <a:ext cx="7620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7907000" y="9144000"/>
            <a:ext cx="0" cy="7620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33400" y="400050"/>
            <a:ext cx="133350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1. Definición del Sistema:</a:t>
            </a:r>
            <a:r>
              <a:rPr lang="en-US" sz="3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Arquitectura de 5 Módulos Integrados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33400" y="1047750"/>
            <a:ext cx="17183100" cy="0"/>
          </a:xfrm>
          <a:prstGeom prst="line">
            <a:avLst/>
          </a:prstGeom>
          <a:ln cap="flat" w="9525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3455767" y="193958"/>
            <a:ext cx="4810293" cy="3612247"/>
            <a:chOff x="0" y="0"/>
            <a:chExt cx="6413724" cy="48163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13724" cy="4816329"/>
            </a:xfrm>
            <a:custGeom>
              <a:avLst/>
              <a:gdLst/>
              <a:ahLst/>
              <a:cxnLst/>
              <a:rect r="r" b="b" t="t" l="l"/>
              <a:pathLst>
                <a:path h="4816329" w="6413724">
                  <a:moveTo>
                    <a:pt x="0" y="0"/>
                  </a:moveTo>
                  <a:lnTo>
                    <a:pt x="6413724" y="0"/>
                  </a:lnTo>
                  <a:lnTo>
                    <a:pt x="6413724" y="4816329"/>
                  </a:lnTo>
                  <a:lnTo>
                    <a:pt x="0" y="4816329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5058" y="7107033"/>
            <a:ext cx="4358497" cy="3187276"/>
            <a:chOff x="0" y="0"/>
            <a:chExt cx="5811330" cy="42497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11330" cy="4249702"/>
            </a:xfrm>
            <a:custGeom>
              <a:avLst/>
              <a:gdLst/>
              <a:ahLst/>
              <a:cxnLst/>
              <a:rect r="r" b="b" t="t" l="l"/>
              <a:pathLst>
                <a:path h="4249702" w="5811330">
                  <a:moveTo>
                    <a:pt x="0" y="0"/>
                  </a:moveTo>
                  <a:lnTo>
                    <a:pt x="5811330" y="0"/>
                  </a:lnTo>
                  <a:lnTo>
                    <a:pt x="5811330" y="4249702"/>
                  </a:lnTo>
                  <a:lnTo>
                    <a:pt x="0" y="4249702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74879" y="1732407"/>
            <a:ext cx="5235512" cy="1912366"/>
            <a:chOff x="0" y="0"/>
            <a:chExt cx="6980683" cy="254982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980683" cy="2549821"/>
              <a:chOff x="0" y="0"/>
              <a:chExt cx="6980683" cy="254982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980683" cy="2549821"/>
              </a:xfrm>
              <a:custGeom>
                <a:avLst/>
                <a:gdLst/>
                <a:ahLst/>
                <a:cxnLst/>
                <a:rect r="r" b="b" t="t" l="l"/>
                <a:pathLst>
                  <a:path h="2549821" w="6980683">
                    <a:moveTo>
                      <a:pt x="0" y="0"/>
                    </a:moveTo>
                    <a:lnTo>
                      <a:pt x="6980683" y="0"/>
                    </a:lnTo>
                    <a:lnTo>
                      <a:pt x="6980683" y="2549821"/>
                    </a:lnTo>
                    <a:lnTo>
                      <a:pt x="0" y="2549821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466865" y="768238"/>
              <a:ext cx="4046953" cy="727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0"/>
                </a:lnSpc>
              </a:pPr>
              <a:r>
                <a:rPr lang="en-US" sz="182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Backoffice Administrativo</a:t>
              </a:r>
            </a:p>
            <a:p>
              <a:pPr algn="ctr">
                <a:lnSpc>
                  <a:spcPts val="2190"/>
                </a:lnSpc>
              </a:pPr>
              <a:r>
                <a:rPr lang="en-US" sz="182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(React + TypeScript)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247452" y="1732745"/>
              <a:ext cx="4485780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Gestión de Stock, Pedidos y Reportes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283480" y="283313"/>
              <a:ext cx="885873" cy="849940"/>
              <a:chOff x="0" y="0"/>
              <a:chExt cx="885873" cy="84994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85873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283480" y="1133254"/>
              <a:ext cx="885873" cy="566627"/>
              <a:chOff x="0" y="0"/>
              <a:chExt cx="885873" cy="56662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283480" y="1699881"/>
              <a:ext cx="885873" cy="566627"/>
              <a:chOff x="0" y="0"/>
              <a:chExt cx="885873" cy="56662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5811330" y="283313"/>
              <a:ext cx="885873" cy="849940"/>
              <a:chOff x="0" y="0"/>
              <a:chExt cx="885873" cy="8499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85873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5811330" y="1133254"/>
              <a:ext cx="885873" cy="566627"/>
              <a:chOff x="0" y="0"/>
              <a:chExt cx="885873" cy="56662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5811330" y="1699881"/>
              <a:ext cx="885873" cy="566627"/>
              <a:chOff x="0" y="0"/>
              <a:chExt cx="885873" cy="56662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33" id="33"/>
          <p:cNvGrpSpPr/>
          <p:nvPr/>
        </p:nvGrpSpPr>
        <p:grpSpPr>
          <a:xfrm rot="0">
            <a:off x="12853341" y="4654250"/>
            <a:ext cx="4810293" cy="1912366"/>
            <a:chOff x="0" y="0"/>
            <a:chExt cx="6413724" cy="254982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413724" cy="2549821"/>
              <a:chOff x="0" y="0"/>
              <a:chExt cx="6413724" cy="254982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413724" cy="2549821"/>
              </a:xfrm>
              <a:custGeom>
                <a:avLst/>
                <a:gdLst/>
                <a:ahLst/>
                <a:cxnLst/>
                <a:rect r="r" b="b" t="t" l="l"/>
                <a:pathLst>
                  <a:path h="2549821" w="6413724">
                    <a:moveTo>
                      <a:pt x="0" y="0"/>
                    </a:moveTo>
                    <a:lnTo>
                      <a:pt x="6413724" y="0"/>
                    </a:lnTo>
                    <a:lnTo>
                      <a:pt x="6413724" y="2549821"/>
                    </a:lnTo>
                    <a:lnTo>
                      <a:pt x="0" y="2549821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1632133" y="639013"/>
              <a:ext cx="3413093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9"/>
                </a:lnSpc>
              </a:pPr>
              <a:r>
                <a:rPr lang="en-US" sz="18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Punto de Venta - POS</a:t>
              </a:r>
            </a:p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(React + TypeScript)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680892" y="1659084"/>
              <a:ext cx="3315576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Cajas Físicas, Facturación y</a:t>
              </a:r>
            </a:p>
            <a:p>
              <a:pPr algn="ctr">
                <a:lnSpc>
                  <a:spcPts val="1715"/>
                </a:lnSpc>
              </a:pPr>
              <a:r>
                <a:rPr lang="en-US" sz="14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Ventas Presenciales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301197" y="283313"/>
              <a:ext cx="885873" cy="849940"/>
              <a:chOff x="0" y="0"/>
              <a:chExt cx="885873" cy="84994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85873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584676" y="1699881"/>
              <a:ext cx="602394" cy="849940"/>
              <a:chOff x="0" y="0"/>
              <a:chExt cx="602394" cy="84994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02394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602394">
                    <a:moveTo>
                      <a:pt x="0" y="0"/>
                    </a:moveTo>
                    <a:lnTo>
                      <a:pt x="602394" y="0"/>
                    </a:lnTo>
                    <a:lnTo>
                      <a:pt x="602394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5510133" y="283313"/>
              <a:ext cx="602394" cy="849940"/>
              <a:chOff x="0" y="0"/>
              <a:chExt cx="602394" cy="84994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02394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602394">
                    <a:moveTo>
                      <a:pt x="0" y="0"/>
                    </a:moveTo>
                    <a:lnTo>
                      <a:pt x="602394" y="0"/>
                    </a:lnTo>
                    <a:lnTo>
                      <a:pt x="602394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5510133" y="1133254"/>
              <a:ext cx="602394" cy="566627"/>
              <a:chOff x="0" y="0"/>
              <a:chExt cx="602394" cy="566627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02394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602394">
                    <a:moveTo>
                      <a:pt x="0" y="0"/>
                    </a:moveTo>
                    <a:lnTo>
                      <a:pt x="602394" y="0"/>
                    </a:lnTo>
                    <a:lnTo>
                      <a:pt x="602394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5510133" y="1699881"/>
              <a:ext cx="602394" cy="566627"/>
              <a:chOff x="0" y="0"/>
              <a:chExt cx="602394" cy="56662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02394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602394">
                    <a:moveTo>
                      <a:pt x="0" y="0"/>
                    </a:moveTo>
                    <a:lnTo>
                      <a:pt x="602394" y="0"/>
                    </a:lnTo>
                    <a:lnTo>
                      <a:pt x="602394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16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48" id="48"/>
          <p:cNvGrpSpPr/>
          <p:nvPr/>
        </p:nvGrpSpPr>
        <p:grpSpPr>
          <a:xfrm rot="0">
            <a:off x="6874879" y="7557216"/>
            <a:ext cx="5235512" cy="1699881"/>
            <a:chOff x="0" y="0"/>
            <a:chExt cx="6980683" cy="2266508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6980683" cy="2266508"/>
              <a:chOff x="0" y="0"/>
              <a:chExt cx="6980683" cy="226650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980683" cy="2266508"/>
              </a:xfrm>
              <a:custGeom>
                <a:avLst/>
                <a:gdLst/>
                <a:ahLst/>
                <a:cxnLst/>
                <a:rect r="r" b="b" t="t" l="l"/>
                <a:pathLst>
                  <a:path h="2266508" w="6980683">
                    <a:moveTo>
                      <a:pt x="0" y="0"/>
                    </a:moveTo>
                    <a:lnTo>
                      <a:pt x="6980683" y="0"/>
                    </a:lnTo>
                    <a:lnTo>
                      <a:pt x="6980683" y="2266508"/>
                    </a:lnTo>
                    <a:lnTo>
                      <a:pt x="0" y="2266508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0" r="0" b="0"/>
                </a:stretch>
              </a:blip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1247452" y="444094"/>
              <a:ext cx="4485780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9"/>
                </a:lnSpc>
              </a:pPr>
              <a:r>
                <a:rPr lang="en-US" sz="187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Tienda Online - E-commerce</a:t>
              </a:r>
            </a:p>
            <a:p>
              <a:pPr algn="ctr">
                <a:lnSpc>
                  <a:spcPts val="2249"/>
                </a:lnSpc>
              </a:pPr>
              <a:r>
                <a:rPr lang="en-US" sz="187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(Integración Flow)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052418" y="1463031"/>
              <a:ext cx="4851468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Catálogo, Pagos Digitales y Pedidos Web</a:t>
              </a:r>
            </a:p>
          </p:txBody>
        </p:sp>
        <p:grpSp>
          <p:nvGrpSpPr>
            <p:cNvPr name="Group 53" id="53"/>
            <p:cNvGrpSpPr/>
            <p:nvPr/>
          </p:nvGrpSpPr>
          <p:grpSpPr>
            <a:xfrm rot="0">
              <a:off x="283480" y="283313"/>
              <a:ext cx="885873" cy="566627"/>
              <a:chOff x="0" y="0"/>
              <a:chExt cx="885873" cy="56662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1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283480" y="849940"/>
              <a:ext cx="885873" cy="566627"/>
              <a:chOff x="0" y="0"/>
              <a:chExt cx="885873" cy="566627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19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283480" y="1416567"/>
              <a:ext cx="885873" cy="566627"/>
              <a:chOff x="0" y="0"/>
              <a:chExt cx="885873" cy="566627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0" t="0" r="0" b="0"/>
                </a:stretch>
              </a:blip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5811330" y="283313"/>
              <a:ext cx="885873" cy="566627"/>
              <a:chOff x="0" y="0"/>
              <a:chExt cx="885873" cy="566627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21"/>
                <a:stretch>
                  <a:fillRect l="0" t="0" r="0" b="0"/>
                </a:stretch>
              </a:blip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5811330" y="1416567"/>
              <a:ext cx="885873" cy="566627"/>
              <a:chOff x="0" y="0"/>
              <a:chExt cx="885873" cy="566627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22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63" id="63"/>
          <p:cNvGrpSpPr/>
          <p:nvPr/>
        </p:nvGrpSpPr>
        <p:grpSpPr>
          <a:xfrm rot="0">
            <a:off x="6874879" y="4635372"/>
            <a:ext cx="5235512" cy="1931243"/>
            <a:chOff x="0" y="0"/>
            <a:chExt cx="6980683" cy="2574991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6980683" cy="2574991"/>
              <a:chOff x="0" y="0"/>
              <a:chExt cx="6980683" cy="2574991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6980683" cy="2574991"/>
              </a:xfrm>
              <a:custGeom>
                <a:avLst/>
                <a:gdLst/>
                <a:ahLst/>
                <a:cxnLst/>
                <a:rect r="r" b="b" t="t" l="l"/>
                <a:pathLst>
                  <a:path h="2574991" w="6980683">
                    <a:moveTo>
                      <a:pt x="0" y="0"/>
                    </a:moveTo>
                    <a:lnTo>
                      <a:pt x="6980683" y="0"/>
                    </a:lnTo>
                    <a:lnTo>
                      <a:pt x="6980683" y="2574991"/>
                    </a:lnTo>
                    <a:lnTo>
                      <a:pt x="0" y="2574991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493" t="0" r="-493" b="0"/>
                </a:stretch>
              </a:blipFill>
            </p:spPr>
          </p:sp>
        </p:grpSp>
        <p:sp>
          <p:nvSpPr>
            <p:cNvPr name="TextBox 66" id="66"/>
            <p:cNvSpPr txBox="true"/>
            <p:nvPr/>
          </p:nvSpPr>
          <p:spPr>
            <a:xfrm rot="0">
              <a:off x="1466865" y="442006"/>
              <a:ext cx="4046953" cy="1095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0"/>
                </a:lnSpc>
              </a:pPr>
              <a:r>
                <a:rPr lang="en-US" sz="182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Backend Central</a:t>
              </a:r>
            </a:p>
            <a:p>
              <a:pPr algn="ctr">
                <a:lnSpc>
                  <a:spcPts val="2190"/>
                </a:lnSpc>
              </a:pPr>
              <a:r>
                <a:rPr lang="en-US" sz="182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(FastAPI + PostgreSQL)</a:t>
              </a:r>
            </a:p>
            <a:p>
              <a:pPr algn="ctr">
                <a:lnSpc>
                  <a:spcPts val="2190"/>
                </a:lnSpc>
              </a:pPr>
              <a:r>
                <a:rPr lang="en-US" sz="182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(React + TypeScript)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1247452" y="1732745"/>
              <a:ext cx="4485780" cy="558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Gestión de Datos y Lógica</a:t>
              </a:r>
            </a:p>
            <a:p>
              <a:pPr algn="ctr">
                <a:lnSpc>
                  <a:spcPts val="1715"/>
                </a:lnSpc>
              </a:pPr>
              <a:r>
                <a:rPr lang="en-US" sz="14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 Negocio</a:t>
              </a:r>
            </a:p>
          </p:txBody>
        </p:sp>
        <p:grpSp>
          <p:nvGrpSpPr>
            <p:cNvPr name="Group 68" id="68"/>
            <p:cNvGrpSpPr/>
            <p:nvPr/>
          </p:nvGrpSpPr>
          <p:grpSpPr>
            <a:xfrm rot="0">
              <a:off x="283480" y="283313"/>
              <a:ext cx="885873" cy="849940"/>
              <a:chOff x="0" y="0"/>
              <a:chExt cx="885873" cy="84994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85873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283480" y="1133254"/>
              <a:ext cx="885873" cy="566627"/>
              <a:chOff x="0" y="0"/>
              <a:chExt cx="885873" cy="566627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72" id="72"/>
            <p:cNvGrpSpPr/>
            <p:nvPr/>
          </p:nvGrpSpPr>
          <p:grpSpPr>
            <a:xfrm rot="0">
              <a:off x="283480" y="1699881"/>
              <a:ext cx="885873" cy="566627"/>
              <a:chOff x="0" y="0"/>
              <a:chExt cx="885873" cy="566627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74" id="74"/>
            <p:cNvGrpSpPr/>
            <p:nvPr/>
          </p:nvGrpSpPr>
          <p:grpSpPr>
            <a:xfrm rot="0">
              <a:off x="5811330" y="283313"/>
              <a:ext cx="885873" cy="849940"/>
              <a:chOff x="0" y="0"/>
              <a:chExt cx="885873" cy="84994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885873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5811330" y="1133254"/>
              <a:ext cx="885873" cy="566627"/>
              <a:chOff x="0" y="0"/>
              <a:chExt cx="885873" cy="566627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5811330" y="1699881"/>
              <a:ext cx="885873" cy="566627"/>
              <a:chOff x="0" y="0"/>
              <a:chExt cx="885873" cy="566627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80" id="80"/>
          <p:cNvGrpSpPr/>
          <p:nvPr/>
        </p:nvGrpSpPr>
        <p:grpSpPr>
          <a:xfrm rot="0">
            <a:off x="896417" y="4654250"/>
            <a:ext cx="5235512" cy="1912366"/>
            <a:chOff x="0" y="0"/>
            <a:chExt cx="6980683" cy="2549821"/>
          </a:xfrm>
        </p:grpSpPr>
        <p:grpSp>
          <p:nvGrpSpPr>
            <p:cNvPr name="Group 81" id="81"/>
            <p:cNvGrpSpPr/>
            <p:nvPr/>
          </p:nvGrpSpPr>
          <p:grpSpPr>
            <a:xfrm rot="0">
              <a:off x="0" y="0"/>
              <a:ext cx="6980683" cy="2549821"/>
              <a:chOff x="0" y="0"/>
              <a:chExt cx="6980683" cy="2549821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6980683" cy="2549821"/>
              </a:xfrm>
              <a:custGeom>
                <a:avLst/>
                <a:gdLst/>
                <a:ahLst/>
                <a:cxnLst/>
                <a:rect r="r" b="b" t="t" l="l"/>
                <a:pathLst>
                  <a:path h="2549821" w="6980683">
                    <a:moveTo>
                      <a:pt x="0" y="0"/>
                    </a:moveTo>
                    <a:lnTo>
                      <a:pt x="6980683" y="0"/>
                    </a:lnTo>
                    <a:lnTo>
                      <a:pt x="6980683" y="2549821"/>
                    </a:lnTo>
                    <a:lnTo>
                      <a:pt x="0" y="2549821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0"/>
                </a:stretch>
              </a:blipFill>
            </p:spPr>
          </p:sp>
        </p:grpSp>
        <p:sp>
          <p:nvSpPr>
            <p:cNvPr name="TextBox 83" id="83"/>
            <p:cNvSpPr txBox="true"/>
            <p:nvPr/>
          </p:nvSpPr>
          <p:spPr>
            <a:xfrm rot="0">
              <a:off x="1169353" y="547854"/>
              <a:ext cx="4641977" cy="1095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90"/>
                </a:lnSpc>
              </a:pPr>
              <a:r>
                <a:rPr lang="en-US" sz="182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App Móvil de Apoyo</a:t>
              </a:r>
            </a:p>
            <a:p>
              <a:pPr algn="ctr">
                <a:lnSpc>
                  <a:spcPts val="2190"/>
                </a:lnSpc>
              </a:pPr>
              <a:r>
                <a:rPr lang="en-US" sz="182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(Flutter - Instructor QR/Barras)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1247452" y="1843494"/>
              <a:ext cx="4485780" cy="27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15"/>
                </a:lnSpc>
              </a:pPr>
              <a:r>
                <a:rPr lang="en-US" sz="14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Gestión de Stock, Pedidos y Reportes</a:t>
              </a:r>
            </a:p>
          </p:txBody>
        </p:sp>
        <p:grpSp>
          <p:nvGrpSpPr>
            <p:cNvPr name="Group 85" id="85"/>
            <p:cNvGrpSpPr/>
            <p:nvPr/>
          </p:nvGrpSpPr>
          <p:grpSpPr>
            <a:xfrm rot="0">
              <a:off x="283480" y="283313"/>
              <a:ext cx="885873" cy="849940"/>
              <a:chOff x="0" y="0"/>
              <a:chExt cx="885873" cy="84994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85873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283480" y="1133254"/>
              <a:ext cx="885873" cy="566627"/>
              <a:chOff x="0" y="0"/>
              <a:chExt cx="885873" cy="566627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283480" y="1699881"/>
              <a:ext cx="885873" cy="566627"/>
              <a:chOff x="0" y="0"/>
              <a:chExt cx="885873" cy="566627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91" id="91"/>
            <p:cNvGrpSpPr/>
            <p:nvPr/>
          </p:nvGrpSpPr>
          <p:grpSpPr>
            <a:xfrm rot="0">
              <a:off x="5811330" y="283313"/>
              <a:ext cx="885873" cy="849940"/>
              <a:chOff x="0" y="0"/>
              <a:chExt cx="885873" cy="84994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85873" cy="849940"/>
              </a:xfrm>
              <a:custGeom>
                <a:avLst/>
                <a:gdLst/>
                <a:ahLst/>
                <a:cxnLst/>
                <a:rect r="r" b="b" t="t" l="l"/>
                <a:pathLst>
                  <a:path h="849940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849940"/>
                    </a:lnTo>
                    <a:lnTo>
                      <a:pt x="0" y="84994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93" id="93"/>
            <p:cNvGrpSpPr/>
            <p:nvPr/>
          </p:nvGrpSpPr>
          <p:grpSpPr>
            <a:xfrm rot="0">
              <a:off x="5811330" y="1133254"/>
              <a:ext cx="885873" cy="566627"/>
              <a:chOff x="0" y="0"/>
              <a:chExt cx="885873" cy="566627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5811330" y="1699881"/>
              <a:ext cx="885873" cy="566627"/>
              <a:chOff x="0" y="0"/>
              <a:chExt cx="885873" cy="566627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885873" cy="566627"/>
              </a:xfrm>
              <a:custGeom>
                <a:avLst/>
                <a:gdLst/>
                <a:ahLst/>
                <a:cxnLst/>
                <a:rect r="r" b="b" t="t" l="l"/>
                <a:pathLst>
                  <a:path h="566627" w="885873">
                    <a:moveTo>
                      <a:pt x="0" y="0"/>
                    </a:moveTo>
                    <a:lnTo>
                      <a:pt x="885873" y="0"/>
                    </a:lnTo>
                    <a:lnTo>
                      <a:pt x="885873" y="566627"/>
                    </a:lnTo>
                    <a:lnTo>
                      <a:pt x="0" y="566627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5977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238" cy="13599046"/>
            </a:xfrm>
            <a:custGeom>
              <a:avLst/>
              <a:gdLst/>
              <a:ahLst/>
              <a:cxnLst/>
              <a:rect r="r" b="b" t="t" l="l"/>
              <a:pathLst>
                <a:path h="13599046" w="24379238">
                  <a:moveTo>
                    <a:pt x="0" y="0"/>
                  </a:moveTo>
                  <a:lnTo>
                    <a:pt x="24379238" y="0"/>
                  </a:lnTo>
                  <a:lnTo>
                    <a:pt x="24379238" y="13599046"/>
                  </a:lnTo>
                  <a:lnTo>
                    <a:pt x="0" y="13599046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30249"/>
            <a:ext cx="9142214" cy="849940"/>
            <a:chOff x="0" y="0"/>
            <a:chExt cx="12189619" cy="11332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89619" cy="1133254"/>
            </a:xfrm>
            <a:custGeom>
              <a:avLst/>
              <a:gdLst/>
              <a:ahLst/>
              <a:cxnLst/>
              <a:rect r="r" b="b" t="t" l="l"/>
              <a:pathLst>
                <a:path h="1133254" w="12189619">
                  <a:moveTo>
                    <a:pt x="0" y="0"/>
                  </a:moveTo>
                  <a:lnTo>
                    <a:pt x="12189619" y="0"/>
                  </a:lnTo>
                  <a:lnTo>
                    <a:pt x="12189619" y="1133254"/>
                  </a:lnTo>
                  <a:lnTo>
                    <a:pt x="0" y="1133254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2214" y="1530249"/>
            <a:ext cx="9142214" cy="849940"/>
            <a:chOff x="0" y="0"/>
            <a:chExt cx="12189619" cy="11332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89619" cy="1133254"/>
            </a:xfrm>
            <a:custGeom>
              <a:avLst/>
              <a:gdLst/>
              <a:ahLst/>
              <a:cxnLst/>
              <a:rect r="r" b="b" t="t" l="l"/>
              <a:pathLst>
                <a:path h="1133254" w="12189619">
                  <a:moveTo>
                    <a:pt x="0" y="0"/>
                  </a:moveTo>
                  <a:lnTo>
                    <a:pt x="12189619" y="0"/>
                  </a:lnTo>
                  <a:lnTo>
                    <a:pt x="12189619" y="1133254"/>
                  </a:lnTo>
                  <a:lnTo>
                    <a:pt x="0" y="1133254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16316" y="1317764"/>
            <a:ext cx="451795" cy="8924374"/>
            <a:chOff x="0" y="0"/>
            <a:chExt cx="602394" cy="118991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2394" cy="11899165"/>
            </a:xfrm>
            <a:custGeom>
              <a:avLst/>
              <a:gdLst/>
              <a:ahLst/>
              <a:cxnLst/>
              <a:rect r="r" b="b" t="t" l="l"/>
              <a:pathLst>
                <a:path h="11899165" w="602394">
                  <a:moveTo>
                    <a:pt x="0" y="0"/>
                  </a:moveTo>
                  <a:lnTo>
                    <a:pt x="602394" y="0"/>
                  </a:lnTo>
                  <a:lnTo>
                    <a:pt x="602394" y="11899165"/>
                  </a:lnTo>
                  <a:lnTo>
                    <a:pt x="0" y="11899165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0542" y="434516"/>
            <a:ext cx="1519436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414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 Problemática: El costo operativo de la fragmentación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59995" y="1626693"/>
            <a:ext cx="4509401" cy="50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9"/>
              </a:lnSpc>
            </a:pPr>
            <a:r>
              <a:rPr lang="en-US" b="true" sz="330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✗ Situación Actual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92327" y="1631498"/>
            <a:ext cx="424198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b="true" sz="335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 Solución Propuesta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0542" y="2855130"/>
            <a:ext cx="351061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Gestión de Inventario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0542" y="3373369"/>
            <a:ext cx="4497969" cy="737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714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Bases de datos aisladas por sucursal sin visibilidad global.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47443" y="2380189"/>
            <a:ext cx="2843654" cy="2337336"/>
            <a:chOff x="0" y="0"/>
            <a:chExt cx="3791538" cy="31164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91538" cy="3116448"/>
            </a:xfrm>
            <a:custGeom>
              <a:avLst/>
              <a:gdLst/>
              <a:ahLst/>
              <a:cxnLst/>
              <a:rect r="r" b="b" t="t" l="l"/>
              <a:pathLst>
                <a:path h="3116448" w="3791538">
                  <a:moveTo>
                    <a:pt x="0" y="0"/>
                  </a:moveTo>
                  <a:lnTo>
                    <a:pt x="3791538" y="0"/>
                  </a:lnTo>
                  <a:lnTo>
                    <a:pt x="3791538" y="3116448"/>
                  </a:lnTo>
                  <a:lnTo>
                    <a:pt x="0" y="3116448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20542" y="5200965"/>
            <a:ext cx="407742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Trazabilidad y Operación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0542" y="5743312"/>
            <a:ext cx="4443116" cy="1471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764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Transferencias registradas manualmente en cuadernos, generando diferencias de stock y pérdida de historial.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647443" y="5142495"/>
            <a:ext cx="2843654" cy="2124851"/>
            <a:chOff x="0" y="0"/>
            <a:chExt cx="3791538" cy="28331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91538" cy="2833134"/>
            </a:xfrm>
            <a:custGeom>
              <a:avLst/>
              <a:gdLst/>
              <a:ahLst/>
              <a:cxnLst/>
              <a:rect r="r" b="b" t="t" l="l"/>
              <a:pathLst>
                <a:path h="2833134" w="3791538">
                  <a:moveTo>
                    <a:pt x="0" y="0"/>
                  </a:moveTo>
                  <a:lnTo>
                    <a:pt x="3791538" y="0"/>
                  </a:lnTo>
                  <a:lnTo>
                    <a:pt x="3791538" y="2833134"/>
                  </a:lnTo>
                  <a:lnTo>
                    <a:pt x="0" y="2833134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20542" y="7954772"/>
            <a:ext cx="307178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</a:pPr>
            <a:r>
              <a:rPr lang="en-US" sz="2862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Alcance Comercial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0542" y="8430693"/>
            <a:ext cx="3711739" cy="119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961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Ventas limitadas exclusivamente al canal presencial.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873341" y="7904801"/>
            <a:ext cx="2405146" cy="1912366"/>
            <a:chOff x="0" y="0"/>
            <a:chExt cx="3206862" cy="25498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06862" cy="2549821"/>
            </a:xfrm>
            <a:custGeom>
              <a:avLst/>
              <a:gdLst/>
              <a:ahLst/>
              <a:cxnLst/>
              <a:rect r="r" b="b" t="t" l="l"/>
              <a:pathLst>
                <a:path h="2549821" w="3206862">
                  <a:moveTo>
                    <a:pt x="0" y="0"/>
                  </a:moveTo>
                  <a:lnTo>
                    <a:pt x="3206862" y="0"/>
                  </a:lnTo>
                  <a:lnTo>
                    <a:pt x="3206862" y="2549821"/>
                  </a:lnTo>
                  <a:lnTo>
                    <a:pt x="0" y="2549821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44471" y="3147724"/>
            <a:ext cx="4205418" cy="112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2813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Inventario centralizado con control de stock físico, reservado y disponible.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789657" y="2380189"/>
            <a:ext cx="2631044" cy="2337336"/>
            <a:chOff x="0" y="0"/>
            <a:chExt cx="3508059" cy="311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08059" cy="3116448"/>
            </a:xfrm>
            <a:custGeom>
              <a:avLst/>
              <a:gdLst/>
              <a:ahLst/>
              <a:cxnLst/>
              <a:rect r="r" b="b" t="t" l="l"/>
              <a:pathLst>
                <a:path h="3116448" w="3508059">
                  <a:moveTo>
                    <a:pt x="0" y="0"/>
                  </a:moveTo>
                  <a:lnTo>
                    <a:pt x="3508059" y="0"/>
                  </a:lnTo>
                  <a:lnTo>
                    <a:pt x="3508059" y="3116448"/>
                  </a:lnTo>
                  <a:lnTo>
                    <a:pt x="0" y="3116448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44471" y="6011016"/>
            <a:ext cx="4278556" cy="73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714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Auditoría digital estricta por lote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015555" y="5142495"/>
            <a:ext cx="2405146" cy="2124851"/>
            <a:chOff x="0" y="0"/>
            <a:chExt cx="3206862" cy="28331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06862" cy="2833134"/>
            </a:xfrm>
            <a:custGeom>
              <a:avLst/>
              <a:gdLst/>
              <a:ahLst/>
              <a:cxnLst/>
              <a:rect r="r" b="b" t="t" l="l"/>
              <a:pathLst>
                <a:path h="2833134" w="3206862">
                  <a:moveTo>
                    <a:pt x="0" y="0"/>
                  </a:moveTo>
                  <a:lnTo>
                    <a:pt x="3206862" y="0"/>
                  </a:lnTo>
                  <a:lnTo>
                    <a:pt x="3206862" y="2833134"/>
                  </a:lnTo>
                  <a:lnTo>
                    <a:pt x="0" y="2833134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544471" y="8472417"/>
            <a:ext cx="4278556" cy="110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764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Ecosistema omnicanal (Venta física + E-commerce con retiro QR).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789657" y="7692316"/>
            <a:ext cx="2631044" cy="2337336"/>
            <a:chOff x="0" y="0"/>
            <a:chExt cx="3508059" cy="311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08059" cy="3116448"/>
            </a:xfrm>
            <a:custGeom>
              <a:avLst/>
              <a:gdLst/>
              <a:ahLst/>
              <a:cxnLst/>
              <a:rect r="r" b="b" t="t" l="l"/>
              <a:pathLst>
                <a:path h="3116448" w="3508059">
                  <a:moveTo>
                    <a:pt x="0" y="0"/>
                  </a:moveTo>
                  <a:lnTo>
                    <a:pt x="3508059" y="0"/>
                  </a:lnTo>
                  <a:lnTo>
                    <a:pt x="3508059" y="3116448"/>
                  </a:lnTo>
                  <a:lnTo>
                    <a:pt x="0" y="3116448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530399" y="9817167"/>
            <a:ext cx="1754029" cy="424970"/>
            <a:chOff x="0" y="0"/>
            <a:chExt cx="2338706" cy="566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38706" cy="566627"/>
            </a:xfrm>
            <a:custGeom>
              <a:avLst/>
              <a:gdLst/>
              <a:ahLst/>
              <a:cxnLst/>
              <a:rect r="r" b="b" t="t" l="l"/>
              <a:pathLst>
                <a:path h="566627" w="2338706">
                  <a:moveTo>
                    <a:pt x="0" y="0"/>
                  </a:moveTo>
                  <a:lnTo>
                    <a:pt x="2338706" y="0"/>
                  </a:lnTo>
                  <a:lnTo>
                    <a:pt x="2338706" y="566627"/>
                  </a:lnTo>
                  <a:lnTo>
                    <a:pt x="0" y="566627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285750"/>
            <a:ext cx="17526000" cy="571500"/>
            <a:chOff x="0" y="0"/>
            <a:chExt cx="23368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68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368000">
                  <a:moveTo>
                    <a:pt x="76200" y="0"/>
                  </a:moveTo>
                  <a:lnTo>
                    <a:pt x="23291800" y="0"/>
                  </a:lnTo>
                  <a:cubicBezTo>
                    <a:pt x="23333884" y="0"/>
                    <a:pt x="23368000" y="34116"/>
                    <a:pt x="23368000" y="76200"/>
                  </a:cubicBezTo>
                  <a:lnTo>
                    <a:pt x="23368000" y="685800"/>
                  </a:lnTo>
                  <a:cubicBezTo>
                    <a:pt x="23368000" y="727884"/>
                    <a:pt x="23333884" y="762000"/>
                    <a:pt x="2329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368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1500" y="238114"/>
            <a:ext cx="17145000" cy="589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 Objetivos: Alinear la ingeniería de software con la viabilidad comercial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05000" y="1143000"/>
            <a:ext cx="14478000" cy="762000"/>
            <a:chOff x="0" y="0"/>
            <a:chExt cx="19304000" cy="10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04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9304000">
                  <a:moveTo>
                    <a:pt x="101600" y="0"/>
                  </a:moveTo>
                  <a:lnTo>
                    <a:pt x="19202400" y="0"/>
                  </a:lnTo>
                  <a:cubicBezTo>
                    <a:pt x="19258513" y="0"/>
                    <a:pt x="19304000" y="45488"/>
                    <a:pt x="19304000" y="101600"/>
                  </a:cubicBezTo>
                  <a:lnTo>
                    <a:pt x="19304000" y="914400"/>
                  </a:lnTo>
                  <a:cubicBezTo>
                    <a:pt x="19304000" y="970512"/>
                    <a:pt x="19258513" y="1016000"/>
                    <a:pt x="19202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04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000250" y="1047750"/>
            <a:ext cx="142875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Plataforma Integral Omnicanal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52625" y="9296841"/>
            <a:ext cx="14478000" cy="476250"/>
            <a:chOff x="0" y="0"/>
            <a:chExt cx="19304000" cy="63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04000" cy="635000"/>
            </a:xfrm>
            <a:custGeom>
              <a:avLst/>
              <a:gdLst/>
              <a:ahLst/>
              <a:cxnLst/>
              <a:rect r="r" b="b" t="t" l="l"/>
              <a:pathLst>
                <a:path h="635000" w="19304000">
                  <a:moveTo>
                    <a:pt x="0" y="0"/>
                  </a:moveTo>
                  <a:lnTo>
                    <a:pt x="19304000" y="0"/>
                  </a:lnTo>
                  <a:lnTo>
                    <a:pt x="19304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1A3A5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040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57375" y="2724591"/>
            <a:ext cx="4000500" cy="6286500"/>
            <a:chOff x="0" y="0"/>
            <a:chExt cx="5334000" cy="838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5334000">
                  <a:moveTo>
                    <a:pt x="533400" y="0"/>
                  </a:moveTo>
                  <a:lnTo>
                    <a:pt x="4800600" y="0"/>
                  </a:lnTo>
                  <a:cubicBezTo>
                    <a:pt x="5095189" y="0"/>
                    <a:pt x="5334000" y="238811"/>
                    <a:pt x="5334000" y="533400"/>
                  </a:cubicBezTo>
                  <a:lnTo>
                    <a:pt x="5334000" y="7848600"/>
                  </a:lnTo>
                  <a:cubicBezTo>
                    <a:pt x="5334000" y="8143189"/>
                    <a:pt x="5095189" y="8382000"/>
                    <a:pt x="4800600" y="8382000"/>
                  </a:cubicBezTo>
                  <a:lnTo>
                    <a:pt x="533400" y="8382000"/>
                  </a:lnTo>
                  <a:cubicBezTo>
                    <a:pt x="238811" y="8382000"/>
                    <a:pt x="0" y="8143189"/>
                    <a:pt x="0" y="7848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D6E4F0"/>
            </a:solidFill>
            <a:ln w="19050" cap="sq">
              <a:solidFill>
                <a:srgbClr val="0A1628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334000" cy="842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57375" y="2724591"/>
            <a:ext cx="4000500" cy="857250"/>
            <a:chOff x="0" y="0"/>
            <a:chExt cx="5334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5334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028700"/>
                  </a:lnTo>
                  <a:cubicBezTo>
                    <a:pt x="5334000" y="1091826"/>
                    <a:pt x="5282826" y="1143000"/>
                    <a:pt x="5219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33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952625" y="2667441"/>
            <a:ext cx="38100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Unificación de</a:t>
            </a:r>
          </a:p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Datos (Técnico)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47875" y="3762816"/>
            <a:ext cx="36195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A1A2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Diseñar una arquitectura y modelo de datos centralizado (PostgreSQL).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47875" y="4953441"/>
            <a:ext cx="36195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A1A2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Garantizar seguridad, escalabilidad y consistencia de la información entre sucursales.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096125" y="2724591"/>
            <a:ext cx="4000500" cy="6286500"/>
            <a:chOff x="0" y="0"/>
            <a:chExt cx="5334000" cy="8382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4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5334000">
                  <a:moveTo>
                    <a:pt x="533400" y="0"/>
                  </a:moveTo>
                  <a:lnTo>
                    <a:pt x="4800600" y="0"/>
                  </a:lnTo>
                  <a:cubicBezTo>
                    <a:pt x="5095189" y="0"/>
                    <a:pt x="5334000" y="238811"/>
                    <a:pt x="5334000" y="533400"/>
                  </a:cubicBezTo>
                  <a:lnTo>
                    <a:pt x="5334000" y="7848600"/>
                  </a:lnTo>
                  <a:cubicBezTo>
                    <a:pt x="5334000" y="8143189"/>
                    <a:pt x="5095189" y="8382000"/>
                    <a:pt x="4800600" y="8382000"/>
                  </a:cubicBezTo>
                  <a:lnTo>
                    <a:pt x="533400" y="8382000"/>
                  </a:lnTo>
                  <a:cubicBezTo>
                    <a:pt x="238811" y="8382000"/>
                    <a:pt x="0" y="8143189"/>
                    <a:pt x="0" y="7848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D6E4F0"/>
            </a:solidFill>
            <a:ln w="19050" cap="sq">
              <a:solidFill>
                <a:srgbClr val="0A1628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334000" cy="842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96125" y="2724591"/>
            <a:ext cx="4000500" cy="857250"/>
            <a:chOff x="0" y="0"/>
            <a:chExt cx="5334000" cy="114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3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5334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028700"/>
                  </a:lnTo>
                  <a:cubicBezTo>
                    <a:pt x="5334000" y="1091826"/>
                    <a:pt x="5282826" y="1143000"/>
                    <a:pt x="5219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33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191375" y="2667441"/>
            <a:ext cx="38100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Control Operativo</a:t>
            </a:r>
          </a:p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(Funcional)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86625" y="3762816"/>
            <a:ext cx="36195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A1A2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Digitalizar y auditar recepciones, transferencias inter-sucursal y cajas.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86625" y="4953441"/>
            <a:ext cx="36195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A1A2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Prevenir quiebres de stock y pérdidas mediante la gestión de lotes y alertas FEFO.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334875" y="2724591"/>
            <a:ext cx="4000500" cy="6286500"/>
            <a:chOff x="0" y="0"/>
            <a:chExt cx="5334000" cy="8382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34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5334000">
                  <a:moveTo>
                    <a:pt x="533400" y="0"/>
                  </a:moveTo>
                  <a:lnTo>
                    <a:pt x="4800600" y="0"/>
                  </a:lnTo>
                  <a:cubicBezTo>
                    <a:pt x="5095189" y="0"/>
                    <a:pt x="5334000" y="238811"/>
                    <a:pt x="5334000" y="533400"/>
                  </a:cubicBezTo>
                  <a:lnTo>
                    <a:pt x="5334000" y="7848600"/>
                  </a:lnTo>
                  <a:cubicBezTo>
                    <a:pt x="5334000" y="8143189"/>
                    <a:pt x="5095189" y="8382000"/>
                    <a:pt x="4800600" y="8382000"/>
                  </a:cubicBezTo>
                  <a:lnTo>
                    <a:pt x="533400" y="8382000"/>
                  </a:lnTo>
                  <a:cubicBezTo>
                    <a:pt x="238811" y="8382000"/>
                    <a:pt x="0" y="8143189"/>
                    <a:pt x="0" y="7848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D6E4F0"/>
            </a:solidFill>
            <a:ln w="19050" cap="sq">
              <a:solidFill>
                <a:srgbClr val="0A1628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334000" cy="842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34875" y="2724591"/>
            <a:ext cx="4000500" cy="857250"/>
            <a:chOff x="0" y="0"/>
            <a:chExt cx="5334000" cy="1143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5334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028700"/>
                  </a:lnTo>
                  <a:cubicBezTo>
                    <a:pt x="5334000" y="1091826"/>
                    <a:pt x="5282826" y="1143000"/>
                    <a:pt x="5219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33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430125" y="2667441"/>
            <a:ext cx="3810000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Expansión Comercial</a:t>
            </a:r>
          </a:p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(Negocio)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25375" y="3762816"/>
            <a:ext cx="36195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A1A2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Implementar un canal E-commerce sincronizado con el inventario físico.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25375" y="4953441"/>
            <a:ext cx="36195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A1A2E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Integrar pasarela de pagos (Flow) y sistema de retiro seguro mediante códigos QR.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248" y="494721"/>
            <a:ext cx="11098648" cy="51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385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4. Alcances: </a:t>
            </a:r>
            <a:r>
              <a:rPr lang="en-US" sz="385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Delimitación funcional y gestión del alcance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02234" y="1317764"/>
            <a:ext cx="15679960" cy="7861948"/>
            <a:chOff x="0" y="0"/>
            <a:chExt cx="20906614" cy="10482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06614" cy="10482597"/>
            </a:xfrm>
            <a:custGeom>
              <a:avLst/>
              <a:gdLst/>
              <a:ahLst/>
              <a:cxnLst/>
              <a:rect r="r" b="b" t="t" l="l"/>
              <a:pathLst>
                <a:path h="10482597" w="20906614">
                  <a:moveTo>
                    <a:pt x="0" y="0"/>
                  </a:moveTo>
                  <a:lnTo>
                    <a:pt x="20906614" y="0"/>
                  </a:lnTo>
                  <a:lnTo>
                    <a:pt x="20906614" y="10482597"/>
                  </a:lnTo>
                  <a:lnTo>
                    <a:pt x="0" y="10482597"/>
                  </a:lnTo>
                  <a:close/>
                </a:path>
              </a:pathLst>
            </a:custGeom>
            <a:solidFill>
              <a:srgbClr val="0D2A4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0741" y="1742734"/>
            <a:ext cx="14377726" cy="7224493"/>
            <a:chOff x="0" y="0"/>
            <a:chExt cx="19170302" cy="9632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70301" cy="9632657"/>
            </a:xfrm>
            <a:custGeom>
              <a:avLst/>
              <a:gdLst/>
              <a:ahLst/>
              <a:cxnLst/>
              <a:rect r="r" b="b" t="t" l="l"/>
              <a:pathLst>
                <a:path h="9632657" w="19170301">
                  <a:moveTo>
                    <a:pt x="0" y="0"/>
                  </a:moveTo>
                  <a:lnTo>
                    <a:pt x="19170301" y="0"/>
                  </a:lnTo>
                  <a:lnTo>
                    <a:pt x="19170301" y="9632657"/>
                  </a:lnTo>
                  <a:lnTo>
                    <a:pt x="0" y="9632657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45209" y="2592674"/>
            <a:ext cx="9368112" cy="5524612"/>
            <a:chOff x="0" y="0"/>
            <a:chExt cx="12490816" cy="7366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90816" cy="7366150"/>
            </a:xfrm>
            <a:custGeom>
              <a:avLst/>
              <a:gdLst/>
              <a:ahLst/>
              <a:cxnLst/>
              <a:rect r="r" b="b" t="t" l="l"/>
              <a:pathLst>
                <a:path h="7366150" w="12490816">
                  <a:moveTo>
                    <a:pt x="0" y="0"/>
                  </a:moveTo>
                  <a:lnTo>
                    <a:pt x="12490816" y="0"/>
                  </a:lnTo>
                  <a:lnTo>
                    <a:pt x="12490816" y="7366150"/>
                  </a:lnTo>
                  <a:lnTo>
                    <a:pt x="0" y="736615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430475" y="1965212"/>
            <a:ext cx="7423478" cy="49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b="true" sz="360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Límites Mitigadores (Fuera del Alcance)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4448" y="3352315"/>
            <a:ext cx="6655532" cy="49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4"/>
              </a:lnSpc>
            </a:pPr>
            <a:r>
              <a:rPr lang="en-US" b="true" sz="360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Core Integrado (Dentro del Alcance)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96306" y="4426600"/>
            <a:ext cx="7313771" cy="288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8"/>
              </a:lnSpc>
            </a:pPr>
            <a:r>
              <a:rPr lang="en-US" sz="296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- Catálogo unificado y control FEFO.</a:t>
            </a:r>
          </a:p>
          <a:p>
            <a:pPr algn="l">
              <a:lnSpc>
                <a:spcPts val="3258"/>
              </a:lnSpc>
            </a:pPr>
            <a:r>
              <a:rPr lang="en-US" sz="296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- Punto de Venta (POS) y transferencias verificadas.</a:t>
            </a:r>
          </a:p>
          <a:p>
            <a:pPr algn="l">
              <a:lnSpc>
                <a:spcPts val="3258"/>
              </a:lnSpc>
            </a:pPr>
            <a:r>
              <a:rPr lang="en-US" sz="296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- E-commerce con pasarela Flow y retiro en tienda.</a:t>
            </a:r>
          </a:p>
          <a:p>
            <a:pPr algn="l">
              <a:lnSpc>
                <a:spcPts val="3258"/>
              </a:lnSpc>
            </a:pPr>
            <a:r>
              <a:rPr lang="en-US" sz="296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- Roles de seguridad y auditoría de transacciones sensibles.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9323" y="4604730"/>
            <a:ext cx="3364335" cy="750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9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Despacho a domicilio (Logística externa).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9030" y="7591016"/>
            <a:ext cx="3254628" cy="109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3"/>
              </a:lnSpc>
            </a:pPr>
            <a:r>
              <a:rPr lang="en-US" sz="281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Integración tributaria directa (SII) y contabilidad completa.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25931" y="4253560"/>
            <a:ext cx="2486682" cy="144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3"/>
              </a:lnSpc>
            </a:pPr>
            <a:r>
              <a:rPr lang="en-US" sz="281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Arquitectura de microservicios (innecesaria para la escala actual).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75770" y="7938317"/>
            <a:ext cx="3254628" cy="73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3"/>
              </a:lnSpc>
            </a:pPr>
            <a:r>
              <a:rPr lang="en-US" sz="281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CRM avanzado y nómina de empleados.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32600" y="9392197"/>
            <a:ext cx="1315522" cy="637455"/>
            <a:chOff x="0" y="0"/>
            <a:chExt cx="1754029" cy="849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4029" cy="849940"/>
            </a:xfrm>
            <a:custGeom>
              <a:avLst/>
              <a:gdLst/>
              <a:ahLst/>
              <a:cxnLst/>
              <a:rect r="r" b="b" t="t" l="l"/>
              <a:pathLst>
                <a:path h="849940" w="1754029">
                  <a:moveTo>
                    <a:pt x="0" y="0"/>
                  </a:moveTo>
                  <a:lnTo>
                    <a:pt x="1754029" y="0"/>
                  </a:lnTo>
                  <a:lnTo>
                    <a:pt x="1754029" y="849940"/>
                  </a:lnTo>
                  <a:lnTo>
                    <a:pt x="0" y="84994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36306" y="9392197"/>
            <a:ext cx="1315522" cy="637455"/>
            <a:chOff x="0" y="0"/>
            <a:chExt cx="1754029" cy="8499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4029" cy="849940"/>
            </a:xfrm>
            <a:custGeom>
              <a:avLst/>
              <a:gdLst/>
              <a:ahLst/>
              <a:cxnLst/>
              <a:rect r="r" b="b" t="t" l="l"/>
              <a:pathLst>
                <a:path h="849940" w="1754029">
                  <a:moveTo>
                    <a:pt x="0" y="0"/>
                  </a:moveTo>
                  <a:lnTo>
                    <a:pt x="1754029" y="0"/>
                  </a:lnTo>
                  <a:lnTo>
                    <a:pt x="1754029" y="849940"/>
                  </a:lnTo>
                  <a:lnTo>
                    <a:pt x="0" y="84994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194804" y="9179712"/>
            <a:ext cx="438507" cy="424970"/>
            <a:chOff x="0" y="0"/>
            <a:chExt cx="584676" cy="5666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4676" cy="566627"/>
            </a:xfrm>
            <a:custGeom>
              <a:avLst/>
              <a:gdLst/>
              <a:ahLst/>
              <a:cxnLst/>
              <a:rect r="r" b="b" t="t" l="l"/>
              <a:pathLst>
                <a:path h="566627" w="584676">
                  <a:moveTo>
                    <a:pt x="0" y="0"/>
                  </a:moveTo>
                  <a:lnTo>
                    <a:pt x="584676" y="0"/>
                  </a:lnTo>
                  <a:lnTo>
                    <a:pt x="584676" y="566627"/>
                  </a:lnTo>
                  <a:lnTo>
                    <a:pt x="0" y="566627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51117" y="9179712"/>
            <a:ext cx="438507" cy="424970"/>
            <a:chOff x="0" y="0"/>
            <a:chExt cx="584676" cy="5666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4676" cy="566627"/>
            </a:xfrm>
            <a:custGeom>
              <a:avLst/>
              <a:gdLst/>
              <a:ahLst/>
              <a:cxnLst/>
              <a:rect r="r" b="b" t="t" l="l"/>
              <a:pathLst>
                <a:path h="566627" w="584676">
                  <a:moveTo>
                    <a:pt x="0" y="0"/>
                  </a:moveTo>
                  <a:lnTo>
                    <a:pt x="584676" y="0"/>
                  </a:lnTo>
                  <a:lnTo>
                    <a:pt x="584676" y="566627"/>
                  </a:lnTo>
                  <a:lnTo>
                    <a:pt x="0" y="566627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2610" y="9179712"/>
            <a:ext cx="451795" cy="424970"/>
            <a:chOff x="0" y="0"/>
            <a:chExt cx="602394" cy="56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2394" cy="566627"/>
            </a:xfrm>
            <a:custGeom>
              <a:avLst/>
              <a:gdLst/>
              <a:ahLst/>
              <a:cxnLst/>
              <a:rect r="r" b="b" t="t" l="l"/>
              <a:pathLst>
                <a:path h="566627" w="602394">
                  <a:moveTo>
                    <a:pt x="0" y="0"/>
                  </a:moveTo>
                  <a:lnTo>
                    <a:pt x="602394" y="0"/>
                  </a:lnTo>
                  <a:lnTo>
                    <a:pt x="602394" y="566627"/>
                  </a:lnTo>
                  <a:lnTo>
                    <a:pt x="0" y="566627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00" y="400050"/>
            <a:ext cx="133350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5. Hitos de Desarrollo:</a:t>
            </a:r>
            <a:r>
              <a:rPr lang="en-US" sz="3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Metodología Scrum (90 Días, 9 Sprints)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05000" y="7429500"/>
            <a:ext cx="6667500" cy="1238250"/>
            <a:chOff x="0" y="0"/>
            <a:chExt cx="8890000" cy="165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8890000">
                  <a:moveTo>
                    <a:pt x="165100" y="0"/>
                  </a:moveTo>
                  <a:lnTo>
                    <a:pt x="8724900" y="0"/>
                  </a:lnTo>
                  <a:cubicBezTo>
                    <a:pt x="8816082" y="0"/>
                    <a:pt x="8890000" y="73918"/>
                    <a:pt x="8890000" y="165100"/>
                  </a:cubicBezTo>
                  <a:lnTo>
                    <a:pt x="8890000" y="1485900"/>
                  </a:lnTo>
                  <a:cubicBezTo>
                    <a:pt x="8890000" y="1577082"/>
                    <a:pt x="8816082" y="1651000"/>
                    <a:pt x="8724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1A3A5C">
                <a:alpha val="84706"/>
              </a:srgbClr>
            </a:solidFill>
            <a:ln w="9525" cap="sq">
              <a:solidFill>
                <a:srgbClr val="00E5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95500" y="7534275"/>
            <a:ext cx="6286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Escalón 1: Base de Datos y Catálogo (Sprints 1-3)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95500" y="7829472"/>
            <a:ext cx="6286500" cy="59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Septiembre: Arquitectura, autenticación, creación del catálogo unificado y lógica de inventario FEFO.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810000" y="5715000"/>
            <a:ext cx="6667500" cy="1238250"/>
            <a:chOff x="0" y="0"/>
            <a:chExt cx="8890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9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8890000">
                  <a:moveTo>
                    <a:pt x="165100" y="0"/>
                  </a:moveTo>
                  <a:lnTo>
                    <a:pt x="8724900" y="0"/>
                  </a:lnTo>
                  <a:cubicBezTo>
                    <a:pt x="8816082" y="0"/>
                    <a:pt x="8890000" y="73918"/>
                    <a:pt x="8890000" y="165100"/>
                  </a:cubicBezTo>
                  <a:lnTo>
                    <a:pt x="8890000" y="1485900"/>
                  </a:lnTo>
                  <a:cubicBezTo>
                    <a:pt x="8890000" y="1577082"/>
                    <a:pt x="8816082" y="1651000"/>
                    <a:pt x="8724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1A3A5C">
                <a:alpha val="84706"/>
              </a:srgbClr>
            </a:solidFill>
            <a:ln w="9525" cap="sq">
              <a:solidFill>
                <a:srgbClr val="00E5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89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000500" y="5819775"/>
            <a:ext cx="6286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Escalón 2: Operación y Ventas (Sprints 4-6)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00500" y="6115050"/>
            <a:ext cx="62865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Octubre: Módulo de transferencias inter-sucursal, Punto de Venta (POS), control de cajas y promociones.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15000" y="4000500"/>
            <a:ext cx="6667500" cy="1238250"/>
            <a:chOff x="0" y="0"/>
            <a:chExt cx="8890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9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8890000">
                  <a:moveTo>
                    <a:pt x="165100" y="0"/>
                  </a:moveTo>
                  <a:lnTo>
                    <a:pt x="8724900" y="0"/>
                  </a:lnTo>
                  <a:cubicBezTo>
                    <a:pt x="8816082" y="0"/>
                    <a:pt x="8890000" y="73918"/>
                    <a:pt x="8890000" y="165100"/>
                  </a:cubicBezTo>
                  <a:lnTo>
                    <a:pt x="8890000" y="1485900"/>
                  </a:lnTo>
                  <a:cubicBezTo>
                    <a:pt x="8890000" y="1577082"/>
                    <a:pt x="8816082" y="1651000"/>
                    <a:pt x="8724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1A3A5C">
                <a:alpha val="84706"/>
              </a:srgbClr>
            </a:solidFill>
            <a:ln w="9525" cap="sq">
              <a:solidFill>
                <a:srgbClr val="00E5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89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905500" y="4105275"/>
            <a:ext cx="62865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Escalón 3: Omnicanalidad (Sprints 7-9)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05500" y="4400550"/>
            <a:ext cx="62865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Noviembre: Plataforma E-commerce, integración de pagos (Flow), pedidos web y App Móvil para retiros.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20000" y="2095500"/>
            <a:ext cx="7143750" cy="1428750"/>
            <a:chOff x="0" y="0"/>
            <a:chExt cx="9525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2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9525000">
                  <a:moveTo>
                    <a:pt x="190500" y="0"/>
                  </a:moveTo>
                  <a:lnTo>
                    <a:pt x="9334500" y="0"/>
                  </a:lnTo>
                  <a:cubicBezTo>
                    <a:pt x="9439711" y="0"/>
                    <a:pt x="9525000" y="85290"/>
                    <a:pt x="9525000" y="190500"/>
                  </a:cubicBezTo>
                  <a:lnTo>
                    <a:pt x="9525000" y="1714500"/>
                  </a:lnTo>
                  <a:cubicBezTo>
                    <a:pt x="9525000" y="1819710"/>
                    <a:pt x="9439711" y="1905000"/>
                    <a:pt x="9334500" y="1905000"/>
                  </a:cubicBezTo>
                  <a:lnTo>
                    <a:pt x="190500" y="1905000"/>
                  </a:lnTo>
                  <a:cubicBezTo>
                    <a:pt x="85290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1A3A5C">
                <a:alpha val="89804"/>
              </a:srgbClr>
            </a:solidFill>
            <a:ln w="19050" cap="sq">
              <a:solidFill>
                <a:srgbClr val="4ADE80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52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810500" y="2200275"/>
            <a:ext cx="67627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4ADE8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La Cima (Hito Final): Integración y Estabilización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10500" y="2543175"/>
            <a:ext cx="676275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Pruebas globales de calidad, validación de reglas de negocio y defensa del producto integrado.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5238750" y="6953250"/>
            <a:ext cx="1905000" cy="476250"/>
          </a:xfrm>
          <a:prstGeom prst="line">
            <a:avLst/>
          </a:prstGeom>
          <a:ln cap="flat" w="28575">
            <a:solidFill>
              <a:srgbClr val="00E5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 flipV="true">
            <a:off x="7143750" y="5238750"/>
            <a:ext cx="1905000" cy="476250"/>
          </a:xfrm>
          <a:prstGeom prst="line">
            <a:avLst/>
          </a:prstGeom>
          <a:ln cap="flat" w="28575">
            <a:solidFill>
              <a:srgbClr val="00E5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9048750" y="3524250"/>
            <a:ext cx="1905000" cy="476250"/>
          </a:xfrm>
          <a:prstGeom prst="line">
            <a:avLst/>
          </a:prstGeom>
          <a:ln cap="flat" w="28575">
            <a:solidFill>
              <a:srgbClr val="00E5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628">
                <a:alpha val="100000"/>
              </a:srgbClr>
            </a:gs>
            <a:gs pos="100000">
              <a:srgbClr val="0D2137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" y="381000"/>
            <a:ext cx="133350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380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6. Conclusión:</a:t>
            </a:r>
            <a:r>
              <a:rPr lang="en-US" sz="38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De una problemática real a una solución planificada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2153" y="3936934"/>
            <a:ext cx="8572755" cy="1672733"/>
            <a:chOff x="0" y="0"/>
            <a:chExt cx="10414000" cy="203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203200" y="0"/>
                  </a:moveTo>
                  <a:lnTo>
                    <a:pt x="10210800" y="0"/>
                  </a:lnTo>
                  <a:cubicBezTo>
                    <a:pt x="10323024" y="0"/>
                    <a:pt x="10414000" y="90976"/>
                    <a:pt x="10414000" y="203200"/>
                  </a:cubicBezTo>
                  <a:lnTo>
                    <a:pt x="10414000" y="1828800"/>
                  </a:lnTo>
                  <a:cubicBezTo>
                    <a:pt x="10414000" y="1941024"/>
                    <a:pt x="10323024" y="2032000"/>
                    <a:pt x="10210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A3A5C">
                <a:alpha val="80000"/>
              </a:srgbClr>
            </a:solidFill>
            <a:ln w="9525" cap="sq">
              <a:solidFill>
                <a:srgbClr val="00E5FF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414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71245" y="4407391"/>
            <a:ext cx="731821" cy="731821"/>
          </a:xfrm>
          <a:custGeom>
            <a:avLst/>
            <a:gdLst/>
            <a:ahLst/>
            <a:cxnLst/>
            <a:rect r="r" b="b" t="t" l="l"/>
            <a:pathLst>
              <a:path h="731821" w="731821">
                <a:moveTo>
                  <a:pt x="0" y="0"/>
                </a:moveTo>
                <a:lnTo>
                  <a:pt x="731820" y="0"/>
                </a:lnTo>
                <a:lnTo>
                  <a:pt x="731820" y="731820"/>
                </a:lnTo>
                <a:lnTo>
                  <a:pt x="0" y="73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2157" y="4125117"/>
            <a:ext cx="7213660" cy="3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b="true" sz="2414">
                <a:solidFill>
                  <a:srgbClr val="00E5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Solución Integral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2157" y="4515655"/>
            <a:ext cx="7213660" cy="62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65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Centraliza inventario, ventas, transferencias y e-commerce, mejorando el control y la trazabilidad de la farmacia.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53092" y="3936934"/>
            <a:ext cx="8572755" cy="1672733"/>
            <a:chOff x="0" y="0"/>
            <a:chExt cx="10414000" cy="203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203200" y="0"/>
                  </a:moveTo>
                  <a:lnTo>
                    <a:pt x="10210800" y="0"/>
                  </a:lnTo>
                  <a:cubicBezTo>
                    <a:pt x="10323024" y="0"/>
                    <a:pt x="10414000" y="90976"/>
                    <a:pt x="10414000" y="203200"/>
                  </a:cubicBezTo>
                  <a:lnTo>
                    <a:pt x="10414000" y="1828800"/>
                  </a:lnTo>
                  <a:cubicBezTo>
                    <a:pt x="10414000" y="1941024"/>
                    <a:pt x="10323024" y="2032000"/>
                    <a:pt x="10210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A3A5C">
                <a:alpha val="80000"/>
              </a:srgbClr>
            </a:solidFill>
            <a:ln w="9525" cap="sq">
              <a:solidFill>
                <a:srgbClr val="00E5FF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414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562183" y="4407391"/>
            <a:ext cx="731821" cy="731821"/>
          </a:xfrm>
          <a:custGeom>
            <a:avLst/>
            <a:gdLst/>
            <a:ahLst/>
            <a:cxnLst/>
            <a:rect r="r" b="b" t="t" l="l"/>
            <a:pathLst>
              <a:path h="731821" w="731821">
                <a:moveTo>
                  <a:pt x="0" y="0"/>
                </a:moveTo>
                <a:lnTo>
                  <a:pt x="731821" y="0"/>
                </a:lnTo>
                <a:lnTo>
                  <a:pt x="731821" y="731820"/>
                </a:lnTo>
                <a:lnTo>
                  <a:pt x="0" y="731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503095" y="4125117"/>
            <a:ext cx="7213660" cy="3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b="true" sz="2414">
                <a:solidFill>
                  <a:srgbClr val="00E5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Desarrollo con Scrum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03095" y="4515616"/>
            <a:ext cx="7213660" cy="629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65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Abordaje incremental mediante Sprints, Historias de Usuario, Product Backlog, revisión continua e integración progresiva.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62153" y="5923305"/>
            <a:ext cx="8572755" cy="1672733"/>
            <a:chOff x="0" y="0"/>
            <a:chExt cx="10414000" cy="203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203200" y="0"/>
                  </a:moveTo>
                  <a:lnTo>
                    <a:pt x="10210800" y="0"/>
                  </a:lnTo>
                  <a:cubicBezTo>
                    <a:pt x="10323024" y="0"/>
                    <a:pt x="10414000" y="90976"/>
                    <a:pt x="10414000" y="203200"/>
                  </a:cubicBezTo>
                  <a:lnTo>
                    <a:pt x="10414000" y="1828800"/>
                  </a:lnTo>
                  <a:cubicBezTo>
                    <a:pt x="10414000" y="1941024"/>
                    <a:pt x="10323024" y="2032000"/>
                    <a:pt x="10210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A3A5C">
                <a:alpha val="80000"/>
              </a:srgbClr>
            </a:solidFill>
            <a:ln w="9525" cap="sq">
              <a:solidFill>
                <a:srgbClr val="00E5FF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14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71245" y="6393761"/>
            <a:ext cx="731821" cy="731821"/>
          </a:xfrm>
          <a:custGeom>
            <a:avLst/>
            <a:gdLst/>
            <a:ahLst/>
            <a:cxnLst/>
            <a:rect r="r" b="b" t="t" l="l"/>
            <a:pathLst>
              <a:path h="731821" w="731821">
                <a:moveTo>
                  <a:pt x="0" y="0"/>
                </a:moveTo>
                <a:lnTo>
                  <a:pt x="731820" y="0"/>
                </a:lnTo>
                <a:lnTo>
                  <a:pt x="731820" y="731820"/>
                </a:lnTo>
                <a:lnTo>
                  <a:pt x="0" y="731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12157" y="6111487"/>
            <a:ext cx="7213660" cy="3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b="true" sz="2414">
                <a:solidFill>
                  <a:srgbClr val="00E5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Planificación y Factibilidad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2157" y="6502025"/>
            <a:ext cx="7213660" cy="62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65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Alcance, recursos y tiempos definidos mediante un plan de trabajo, organizando el desarrollo dentro del periodo académico.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53092" y="5923305"/>
            <a:ext cx="8572755" cy="1672733"/>
            <a:chOff x="0" y="0"/>
            <a:chExt cx="104140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203200" y="0"/>
                  </a:moveTo>
                  <a:lnTo>
                    <a:pt x="10210800" y="0"/>
                  </a:lnTo>
                  <a:cubicBezTo>
                    <a:pt x="10323024" y="0"/>
                    <a:pt x="10414000" y="90976"/>
                    <a:pt x="10414000" y="203200"/>
                  </a:cubicBezTo>
                  <a:lnTo>
                    <a:pt x="10414000" y="1828800"/>
                  </a:lnTo>
                  <a:cubicBezTo>
                    <a:pt x="10414000" y="1941024"/>
                    <a:pt x="10323024" y="2032000"/>
                    <a:pt x="10210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A3A5C">
                <a:alpha val="80000"/>
              </a:srgbClr>
            </a:solidFill>
            <a:ln w="9525" cap="sq">
              <a:solidFill>
                <a:srgbClr val="00E5FF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414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562183" y="6393761"/>
            <a:ext cx="731821" cy="731821"/>
          </a:xfrm>
          <a:custGeom>
            <a:avLst/>
            <a:gdLst/>
            <a:ahLst/>
            <a:cxnLst/>
            <a:rect r="r" b="b" t="t" l="l"/>
            <a:pathLst>
              <a:path h="731821" w="731821">
                <a:moveTo>
                  <a:pt x="0" y="0"/>
                </a:moveTo>
                <a:lnTo>
                  <a:pt x="731821" y="0"/>
                </a:lnTo>
                <a:lnTo>
                  <a:pt x="731821" y="731820"/>
                </a:lnTo>
                <a:lnTo>
                  <a:pt x="0" y="731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503095" y="6111487"/>
            <a:ext cx="7213660" cy="3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b="true" sz="2414">
                <a:solidFill>
                  <a:srgbClr val="00E5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Calidad y Evolución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03095" y="6502025"/>
            <a:ext cx="7213660" cy="62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65">
                <a:solidFill>
                  <a:srgbClr val="A0B8D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Pruebas, validaciones y evidencias para controlar el avance, corregir problemas y obtener una solución escalable.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43000" y="9048750"/>
            <a:ext cx="16002000" cy="571500"/>
            <a:chOff x="0" y="0"/>
            <a:chExt cx="21336000" cy="76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336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1336000">
                  <a:moveTo>
                    <a:pt x="76200" y="0"/>
                  </a:moveTo>
                  <a:lnTo>
                    <a:pt x="21259800" y="0"/>
                  </a:lnTo>
                  <a:cubicBezTo>
                    <a:pt x="21301884" y="0"/>
                    <a:pt x="21336000" y="34116"/>
                    <a:pt x="21336000" y="76200"/>
                  </a:cubicBezTo>
                  <a:lnTo>
                    <a:pt x="21336000" y="685800"/>
                  </a:lnTo>
                  <a:cubicBezTo>
                    <a:pt x="21336000" y="727884"/>
                    <a:pt x="21301884" y="762000"/>
                    <a:pt x="21259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D2A40">
                <a:alpha val="89804"/>
              </a:srgbClr>
            </a:solidFill>
            <a:ln w="9525" cap="sq">
              <a:solidFill>
                <a:srgbClr val="4ADE80">
                  <a:alpha val="89804"/>
                </a:srgbClr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336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33500" y="9163050"/>
            <a:ext cx="15621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ADE8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Una solución tecnológica respaldada por planificación, metodología y validación.</a:t>
            </a:r>
          </a:p>
        </p:txBody>
      </p:sp>
      <p:sp>
        <p:nvSpPr>
          <p:cNvPr name="AutoShape 31" id="31"/>
          <p:cNvSpPr/>
          <p:nvPr/>
        </p:nvSpPr>
        <p:spPr>
          <a:xfrm>
            <a:off x="95250" y="95250"/>
            <a:ext cx="0" cy="5715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95250" y="95250"/>
            <a:ext cx="5715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7621250" y="95250"/>
            <a:ext cx="5715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8192750" y="95250"/>
            <a:ext cx="0" cy="5715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95250" y="9620250"/>
            <a:ext cx="0" cy="5715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5250" y="10191750"/>
            <a:ext cx="5715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V="true">
            <a:off x="18192750" y="9620250"/>
            <a:ext cx="0" cy="57150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7621250" y="10191750"/>
            <a:ext cx="571500" cy="0"/>
          </a:xfrm>
          <a:prstGeom prst="line">
            <a:avLst/>
          </a:prstGeom>
          <a:ln cap="flat" w="19050">
            <a:solidFill>
              <a:srgbClr val="00E5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DAHTnvL2cu8</dc:identifier>
  <dcterms:modified xsi:type="dcterms:W3CDTF">2011-08-01T06:04:30Z</dcterms:modified>
  <cp:revision>1</cp:revision>
  <dc:title>Sistema Integral de Gestión para Farmacia Quilicura.pptx</dc:title>
</cp:coreProperties>
</file>